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embeddedFontLst>
    <p:embeddedFont>
      <p:font typeface="JetBrains Mono" panose="02000009000000000000" pitchFamily="49"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My name, years in IT, how long I’ve been training on AWS. Tell them up front this will be a live demo, not slides, and that the slides are only for the start and the end. Mention I’ll keep about 3 minutes at the end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table. Just say: most of this session is in the AWS console and terminal, and I’ll come back to slides only at the end. If something takes longer, I’ll skip the optional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clear this is a made-up bank. I don’t want anyone thinking this is how SBI’s systems work. Point 4 is the one auditors always ask about, so pause on it. Mumbai region because the data has to stay in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it top to bottom, one line each. Portal: what the branches see. Processing: what happens after the file lands. Release: how a change gets to production. Security sits across everything, not as a separate box at the end. Tell them the portal network was built yesterday with CloudFormation, and the rest I’ll build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before I switch to the console. Tell them step 2 is deliberate: I’m going to kill a server and we’ll check at the end whether anyone noticed. Steps 4 and 5 overlap in time because the pipeline runs in the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only if I need to explain the pipeline before or after showing it, or as a fallback if the live run is slow. The underscores in the number are valid Python, so we can write it the Indian way. The approval step is what bank people relate to most, so spend a few seconds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Use it after the security part to summarise, or skip if short on time. Key line: access is enforced by IAM policy, not by trusting people. If someone asks about S3 object-level logging, that needs data events on a trail, which we cover on Day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the program. RDS Multi-AZ, S3 cross-region replication to Hyderabad and ECS Fargate weren’t in today’s demo for time reasons, but they are full labs in the training. End on the hands-on point, that’s what they didn’t like last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are no questions, ask them one: which part would be most useful for their current projects. That tells me where to put extra lab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F2A44"/>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F2A4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F2A44"/>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F2A4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F2A44"/>
          </a:solidFill>
          <a:ln/>
        </p:spPr>
      </p:sp>
      <p:sp>
        <p:nvSpPr>
          <p:cNvPr id="3" name="Text 1"/>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50" kern="0" dirty="0">
                <a:solidFill>
                  <a:srgbClr val="A8520D"/>
                </a:solidFill>
                <a:latin typeface="IBM Plex Sans" pitchFamily="34" charset="0"/>
                <a:ea typeface="IBM Plex Sans" pitchFamily="34" charset="-122"/>
                <a:cs typeface="IBM Plex Sans" pitchFamily="34" charset="-120"/>
              </a:rPr>
              <a:t>AWS CLOUD ARCHITECTURE, AUTOMATION &amp; SECURITY</a:t>
            </a:r>
            <a:endParaRPr lang="en-US" sz="1400" dirty="0"/>
          </a:p>
        </p:txBody>
      </p:sp>
      <p:sp>
        <p:nvSpPr>
          <p:cNvPr id="4" name="Text 2"/>
          <p:cNvSpPr/>
          <p:nvPr>
            <p:ph type="title"/>
          </p:nvPr>
        </p:nvSpPr>
        <p:spPr>
          <a:xfrm>
            <a:off x="812800" y="230510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F2A44"/>
                </a:solidFill>
                <a:latin typeface="IBM Plex Sans" pitchFamily="34" charset="0"/>
                <a:ea typeface="IBM Plex Sans" pitchFamily="34" charset="-122"/>
                <a:cs typeface="IBM Plex Sans" pitchFamily="34" charset="-120"/>
              </a:rPr>
              <a:t>Live demo: processing branch EOD files on AWS</a:t>
            </a:r>
            <a:endParaRPr lang="en-US" sz="4400" dirty="0"/>
          </a:p>
        </p:txBody>
      </p:sp>
      <p:sp>
        <p:nvSpPr>
          <p:cNvPr id="5" name="Text 3"/>
          <p:cNvSpPr/>
          <p:nvPr/>
        </p:nvSpPr>
        <p:spPr>
          <a:xfrm>
            <a:off x="812800" y="3712220"/>
            <a:ext cx="91567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IBM Plex Sans" pitchFamily="34" charset="0"/>
                <a:ea typeface="IBM Plex Sans" pitchFamily="34" charset="-122"/>
                <a:cs typeface="IBM Plex Sans" pitchFamily="34" charset="-120"/>
              </a:rPr>
              <a:t>A banking use case covering IaC, CI/CD, serverless and security</a:t>
            </a:r>
            <a:endParaRPr lang="en-US" sz="1800" dirty="0"/>
          </a:p>
        </p:txBody>
      </p:sp>
      <p:sp>
        <p:nvSpPr>
          <p:cNvPr id="6" name="Shape 4"/>
          <p:cNvSpPr/>
          <p:nvPr/>
        </p:nvSpPr>
        <p:spPr>
          <a:xfrm>
            <a:off x="812800" y="5281960"/>
            <a:ext cx="10566400" cy="0"/>
          </a:xfrm>
          <a:prstGeom prst="line">
            <a:avLst/>
          </a:prstGeom>
          <a:noFill/>
          <a:ln w="12700">
            <a:solidFill>
              <a:srgbClr val="C9CFD8"/>
            </a:solidFill>
            <a:prstDash val="solid"/>
          </a:ln>
        </p:spPr>
      </p:sp>
      <p:sp>
        <p:nvSpPr>
          <p:cNvPr id="7" name="Text 5"/>
          <p:cNvSpPr/>
          <p:nvPr/>
        </p:nvSpPr>
        <p:spPr>
          <a:xfrm>
            <a:off x="812800" y="5491510"/>
            <a:ext cx="345854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44"/>
                </a:solidFill>
                <a:latin typeface="IBM Plex Sans" pitchFamily="34" charset="0"/>
                <a:ea typeface="IBM Plex Sans" pitchFamily="34" charset="-122"/>
                <a:cs typeface="IBM Plex Sans" pitchFamily="34" charset="-120"/>
              </a:rPr>
              <a:t>Ravindra Nallan</a:t>
            </a:r>
            <a:endParaRPr lang="en-US" sz="1600" dirty="0"/>
          </a:p>
        </p:txBody>
      </p:sp>
      <p:sp>
        <p:nvSpPr>
          <p:cNvPr id="8" name="Text 6"/>
          <p:cNvSpPr/>
          <p:nvPr/>
        </p:nvSpPr>
        <p:spPr>
          <a:xfrm>
            <a:off x="812800" y="5814070"/>
            <a:ext cx="402937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AWS Certified Solutions Architect – Associate</a:t>
            </a:r>
            <a:endParaRPr lang="en-US" sz="1300" dirty="0"/>
          </a:p>
        </p:txBody>
      </p:sp>
      <p:sp>
        <p:nvSpPr>
          <p:cNvPr id="9" name="Text 7"/>
          <p:cNvSpPr/>
          <p:nvPr/>
        </p:nvSpPr>
        <p:spPr>
          <a:xfrm>
            <a:off x="7548543" y="5814070"/>
            <a:ext cx="3830657" cy="25653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State Bank of India · Online session · [date]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44"/>
                </a:solidFill>
                <a:latin typeface="IBM Plex Sans" pitchFamily="34" charset="0"/>
                <a:ea typeface="IBM Plex Sans" pitchFamily="34" charset="-122"/>
                <a:cs typeface="IBM Plex Sans" pitchFamily="34" charset="-120"/>
              </a:rPr>
              <a:t>Plan for the next 30 minutes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3302000"/>
        </p:xfrm>
        <a:graphic>
          <a:graphicData uri="http://schemas.openxmlformats.org/drawingml/2006/table">
            <a:tbl>
              <a:tblPr/>
              <a:tblGrid>
                <a:gridCol w="1899666"/>
                <a:gridCol w="8654034"/>
              </a:tblGrid>
              <a:tr h="412750">
                <a:tc>
                  <a:txBody>
                    <a:bodyPr/>
                    <a:lstStyle/>
                    <a:p>
                      <a:pPr indent="0" marL="0">
                        <a:lnSpc>
                          <a:spcPts val="2100"/>
                        </a:lnSpc>
                        <a:buNone/>
                      </a:pPr>
                      <a:r>
                        <a:rPr lang="en-US" sz="1500" b="1" dirty="0">
                          <a:solidFill>
                            <a:srgbClr val="F7F7F4"/>
                          </a:solidFill>
                          <a:latin typeface="IBM Plex Sans" pitchFamily="34" charset="0"/>
                          <a:ea typeface="IBM Plex Sans" pitchFamily="34" charset="-122"/>
                          <a:cs typeface="IBM Plex Sans" pitchFamily="34" charset="-120"/>
                        </a:rPr>
                        <a:t>Time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c>
                  <a:txBody>
                    <a:bodyPr/>
                    <a:lstStyle/>
                    <a:p>
                      <a:pPr indent="0" marL="0">
                        <a:lnSpc>
                          <a:spcPts val="2100"/>
                        </a:lnSpc>
                        <a:buNone/>
                      </a:pPr>
                      <a:r>
                        <a:rPr lang="en-US" sz="1500" b="1" dirty="0">
                          <a:solidFill>
                            <a:srgbClr val="F7F7F4"/>
                          </a:solidFill>
                          <a:latin typeface="IBM Plex Sans" pitchFamily="34" charset="0"/>
                          <a:ea typeface="IBM Plex Sans" pitchFamily="34" charset="-122"/>
                          <a:cs typeface="IBM Plex Sans" pitchFamily="34" charset="-120"/>
                        </a:rPr>
                        <a:t>What we’ll do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D2539"/>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r>
              <a:tr h="412750">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0 – 2 min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The scenario: a bank with 200 branches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2 – 7 min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Build the platform with Terraform, live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r>
              <a:tr h="412750">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7 – 10 min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Break a portal server on purpose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10 – 14 min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Process a branch EOD file automatically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r>
              <a:tr h="412750">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14 – 22 min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Change a compliance rule through the pipeline, plus security checks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22 – 27 min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Check results: new rule live, server replaced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r>
              <a:tr h="412750">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27 – 30 min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Where this fits in the 5 days, questions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
        <p:nvSpPr>
          <p:cNvPr id="4" name="Text 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AWS demo · Branch EOD processing</a:t>
            </a:r>
            <a:endParaRPr lang="en-US" sz="1200" dirty="0"/>
          </a:p>
        </p:txBody>
      </p:sp>
      <p:sp>
        <p:nvSpPr>
          <p:cNvPr id="5" name="Text 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44"/>
                </a:solidFill>
                <a:latin typeface="IBM Plex Sans" pitchFamily="34" charset="0"/>
                <a:ea typeface="IBM Plex Sans" pitchFamily="34" charset="-122"/>
                <a:cs typeface="IBM Plex Sans" pitchFamily="34" charset="-120"/>
              </a:rPr>
              <a:t>The scenario</a:t>
            </a:r>
            <a:endParaRPr lang="en-US" sz="3200" dirty="0"/>
          </a:p>
        </p:txBody>
      </p:sp>
      <p:sp>
        <p:nvSpPr>
          <p:cNvPr id="3" name="Text 1"/>
          <p:cNvSpPr/>
          <p:nvPr/>
        </p:nvSpPr>
        <p:spPr>
          <a:xfrm>
            <a:off x="812800" y="1584920"/>
            <a:ext cx="4756732" cy="964505"/>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44"/>
                </a:solidFill>
                <a:latin typeface="IBM Plex Sans" pitchFamily="34" charset="0"/>
                <a:ea typeface="IBM Plex Sans" pitchFamily="34" charset="-122"/>
                <a:cs typeface="IBM Plex Sans" pitchFamily="34" charset="-120"/>
              </a:rPr>
              <a:t>Bharat National Bank has 200 branches. Every evening, each branch uploads its end-of-day (EOD) transaction file to a central portal.</a:t>
            </a:r>
            <a:endParaRPr lang="en-US" sz="1700" dirty="0"/>
          </a:p>
        </p:txBody>
      </p:sp>
      <p:sp>
        <p:nvSpPr>
          <p:cNvPr id="4" name="Text 2"/>
          <p:cNvSpPr/>
          <p:nvPr/>
        </p:nvSpPr>
        <p:spPr>
          <a:xfrm>
            <a:off x="812800" y="2701826"/>
            <a:ext cx="475673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The IT team has been asked to move this to AWS. Here’s what the business and the auditors want from it.</a:t>
            </a:r>
            <a:endParaRPr lang="en-US" sz="1500" dirty="0"/>
          </a:p>
        </p:txBody>
      </p:sp>
      <p:sp>
        <p:nvSpPr>
          <p:cNvPr id="5" name="Text 3"/>
          <p:cNvSpPr/>
          <p:nvPr/>
        </p:nvSpPr>
        <p:spPr>
          <a:xfrm>
            <a:off x="812800" y="3708301"/>
            <a:ext cx="47567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D"/>
                </a:solidFill>
                <a:latin typeface="IBM Plex Sans" pitchFamily="34" charset="0"/>
                <a:ea typeface="IBM Plex Sans" pitchFamily="34" charset="-122"/>
                <a:cs typeface="IBM Plex Sans" pitchFamily="34" charset="-120"/>
              </a:rPr>
              <a:t>Fictional bank, synthetic data. Region: Mumbai (ap-south-1).</a:t>
            </a:r>
            <a:endParaRPr lang="en-US" sz="1200" dirty="0"/>
          </a:p>
        </p:txBody>
      </p:sp>
      <p:sp>
        <p:nvSpPr>
          <p:cNvPr id="6" name="Shape 4"/>
          <p:cNvSpPr/>
          <p:nvPr/>
        </p:nvSpPr>
        <p:spPr>
          <a:xfrm>
            <a:off x="5840561" y="1588095"/>
            <a:ext cx="5535464" cy="595610"/>
          </a:xfrm>
          <a:prstGeom prst="roundRect">
            <a:avLst>
              <a:gd name="adj" fmla="val 10128"/>
            </a:avLst>
          </a:prstGeom>
          <a:solidFill>
            <a:srgbClr val="FFFFFF"/>
          </a:solidFill>
          <a:ln w="6350">
            <a:solidFill>
              <a:srgbClr val="D5DAE1"/>
            </a:solidFill>
            <a:prstDash val="solid"/>
          </a:ln>
        </p:spPr>
      </p:sp>
      <p:sp>
        <p:nvSpPr>
          <p:cNvPr id="7" name="Text 5"/>
          <p:cNvSpPr/>
          <p:nvPr/>
        </p:nvSpPr>
        <p:spPr>
          <a:xfrm>
            <a:off x="6021536" y="1743670"/>
            <a:ext cx="1727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8520D"/>
                </a:solidFill>
                <a:latin typeface="IBM Plex Sans" pitchFamily="34" charset="0"/>
                <a:ea typeface="IBM Plex Sans" pitchFamily="34" charset="-122"/>
                <a:cs typeface="IBM Plex Sans" pitchFamily="34" charset="-120"/>
              </a:rPr>
              <a:t>1</a:t>
            </a:r>
            <a:endParaRPr lang="en-US" sz="1600" dirty="0"/>
          </a:p>
        </p:txBody>
      </p:sp>
      <p:sp>
        <p:nvSpPr>
          <p:cNvPr id="8" name="Text 6"/>
          <p:cNvSpPr/>
          <p:nvPr/>
        </p:nvSpPr>
        <p:spPr>
          <a:xfrm>
            <a:off x="6295876" y="1743670"/>
            <a:ext cx="507697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Portal stays up during EOD upload, even if a server fails</a:t>
            </a:r>
            <a:endParaRPr lang="en-US" sz="1500" dirty="0"/>
          </a:p>
        </p:txBody>
      </p:sp>
      <p:sp>
        <p:nvSpPr>
          <p:cNvPr id="9" name="Shape 7"/>
          <p:cNvSpPr/>
          <p:nvPr/>
        </p:nvSpPr>
        <p:spPr>
          <a:xfrm>
            <a:off x="5840561" y="2317055"/>
            <a:ext cx="5535464" cy="844550"/>
          </a:xfrm>
          <a:prstGeom prst="roundRect">
            <a:avLst>
              <a:gd name="adj" fmla="val 7143"/>
            </a:avLst>
          </a:prstGeom>
          <a:solidFill>
            <a:srgbClr val="FFFFFF"/>
          </a:solidFill>
          <a:ln w="6350">
            <a:solidFill>
              <a:srgbClr val="D5DAE1"/>
            </a:solidFill>
            <a:prstDash val="solid"/>
          </a:ln>
        </p:spPr>
      </p:sp>
      <p:sp>
        <p:nvSpPr>
          <p:cNvPr id="10" name="Text 8"/>
          <p:cNvSpPr/>
          <p:nvPr/>
        </p:nvSpPr>
        <p:spPr>
          <a:xfrm>
            <a:off x="6021536" y="2472630"/>
            <a:ext cx="13364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8520D"/>
                </a:solidFill>
                <a:latin typeface="IBM Plex Sans" pitchFamily="34" charset="0"/>
                <a:ea typeface="IBM Plex Sans" pitchFamily="34" charset="-122"/>
                <a:cs typeface="IBM Plex Sans" pitchFamily="34" charset="-120"/>
              </a:rPr>
              <a:t>2</a:t>
            </a:r>
            <a:endParaRPr lang="en-US" sz="1600" dirty="0"/>
          </a:p>
        </p:txBody>
      </p:sp>
      <p:sp>
        <p:nvSpPr>
          <p:cNvPr id="11" name="Text 9"/>
          <p:cNvSpPr/>
          <p:nvPr/>
        </p:nvSpPr>
        <p:spPr>
          <a:xfrm>
            <a:off x="6256784" y="2472630"/>
            <a:ext cx="508641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Files processed without manual work; high-value transactions flagged for compliance</a:t>
            </a:r>
            <a:endParaRPr lang="en-US" sz="1500" dirty="0"/>
          </a:p>
        </p:txBody>
      </p:sp>
      <p:sp>
        <p:nvSpPr>
          <p:cNvPr id="12" name="Shape 10"/>
          <p:cNvSpPr/>
          <p:nvPr/>
        </p:nvSpPr>
        <p:spPr>
          <a:xfrm>
            <a:off x="5840561" y="3294955"/>
            <a:ext cx="5535464" cy="595610"/>
          </a:xfrm>
          <a:prstGeom prst="roundRect">
            <a:avLst>
              <a:gd name="adj" fmla="val 10128"/>
            </a:avLst>
          </a:prstGeom>
          <a:solidFill>
            <a:srgbClr val="FFFFFF"/>
          </a:solidFill>
          <a:ln w="6350">
            <a:solidFill>
              <a:srgbClr val="D5DAE1"/>
            </a:solidFill>
            <a:prstDash val="solid"/>
          </a:ln>
        </p:spPr>
      </p:sp>
      <p:sp>
        <p:nvSpPr>
          <p:cNvPr id="13" name="Text 11"/>
          <p:cNvSpPr/>
          <p:nvPr/>
        </p:nvSpPr>
        <p:spPr>
          <a:xfrm>
            <a:off x="6021536" y="3450530"/>
            <a:ext cx="1727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8520D"/>
                </a:solidFill>
                <a:latin typeface="IBM Plex Sans" pitchFamily="34" charset="0"/>
                <a:ea typeface="IBM Plex Sans" pitchFamily="34" charset="-122"/>
                <a:cs typeface="IBM Plex Sans" pitchFamily="34" charset="-120"/>
              </a:rPr>
              <a:t>3</a:t>
            </a:r>
            <a:endParaRPr lang="en-US" sz="1600" dirty="0"/>
          </a:p>
        </p:txBody>
      </p:sp>
      <p:sp>
        <p:nvSpPr>
          <p:cNvPr id="14" name="Text 12"/>
          <p:cNvSpPr/>
          <p:nvPr/>
        </p:nvSpPr>
        <p:spPr>
          <a:xfrm>
            <a:off x="6295876" y="3450530"/>
            <a:ext cx="507697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Customer data encrypted, access on need-to-know basis</a:t>
            </a:r>
            <a:endParaRPr lang="en-US" sz="1500" dirty="0"/>
          </a:p>
        </p:txBody>
      </p:sp>
      <p:sp>
        <p:nvSpPr>
          <p:cNvPr id="15" name="Shape 13"/>
          <p:cNvSpPr/>
          <p:nvPr/>
        </p:nvSpPr>
        <p:spPr>
          <a:xfrm>
            <a:off x="5840561" y="4023916"/>
            <a:ext cx="5535464" cy="595610"/>
          </a:xfrm>
          <a:prstGeom prst="roundRect">
            <a:avLst>
              <a:gd name="adj" fmla="val 10128"/>
            </a:avLst>
          </a:prstGeom>
          <a:solidFill>
            <a:srgbClr val="FFFFFF"/>
          </a:solidFill>
          <a:ln w="6350">
            <a:solidFill>
              <a:srgbClr val="D5DAE1"/>
            </a:solidFill>
            <a:prstDash val="solid"/>
          </a:ln>
        </p:spPr>
      </p:sp>
      <p:sp>
        <p:nvSpPr>
          <p:cNvPr id="16" name="Text 14"/>
          <p:cNvSpPr/>
          <p:nvPr/>
        </p:nvSpPr>
        <p:spPr>
          <a:xfrm>
            <a:off x="6021536" y="4179491"/>
            <a:ext cx="1727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8520D"/>
                </a:solidFill>
                <a:latin typeface="IBM Plex Sans" pitchFamily="34" charset="0"/>
                <a:ea typeface="IBM Plex Sans" pitchFamily="34" charset="-122"/>
                <a:cs typeface="IBM Plex Sans" pitchFamily="34" charset="-120"/>
              </a:rPr>
              <a:t>4</a:t>
            </a:r>
            <a:endParaRPr lang="en-US" sz="1600" dirty="0"/>
          </a:p>
        </p:txBody>
      </p:sp>
      <p:sp>
        <p:nvSpPr>
          <p:cNvPr id="17" name="Text 15"/>
          <p:cNvSpPr/>
          <p:nvPr/>
        </p:nvSpPr>
        <p:spPr>
          <a:xfrm>
            <a:off x="6295876" y="4179491"/>
            <a:ext cx="49933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44"/>
                </a:solidFill>
                <a:latin typeface="IBM Plex Sans" pitchFamily="34" charset="0"/>
                <a:ea typeface="IBM Plex Sans" pitchFamily="34" charset="-122"/>
                <a:cs typeface="IBM Plex Sans" pitchFamily="34" charset="-120"/>
              </a:rPr>
              <a:t>Every change traceable: who did what, and when</a:t>
            </a:r>
            <a:endParaRPr lang="en-US" sz="15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AWS demo · Branch EOD processing</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EEF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44"/>
                </a:solidFill>
                <a:latin typeface="IBM Plex Sans" pitchFamily="34" charset="0"/>
                <a:ea typeface="IBM Plex Sans" pitchFamily="34" charset="-122"/>
                <a:cs typeface="IBM Plex Sans" pitchFamily="34" charset="-120"/>
              </a:rPr>
              <a:t>What we’re building</a:t>
            </a:r>
            <a:endParaRPr lang="en-US" sz="3200" dirty="0"/>
          </a:p>
        </p:txBody>
      </p:sp>
      <p:sp>
        <p:nvSpPr>
          <p:cNvPr id="3" name="Text 1"/>
          <p:cNvSpPr/>
          <p:nvPr/>
        </p:nvSpPr>
        <p:spPr>
          <a:xfrm>
            <a:off x="812800" y="133092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All in ap-south-1, two Availability Zones, built with CloudFormation and Terraform</a:t>
            </a:r>
            <a:endParaRPr lang="en-US" sz="1300" dirty="0"/>
          </a:p>
        </p:txBody>
      </p:sp>
      <p:sp>
        <p:nvSpPr>
          <p:cNvPr id="4" name="Text 2"/>
          <p:cNvSpPr/>
          <p:nvPr/>
        </p:nvSpPr>
        <p:spPr>
          <a:xfrm>
            <a:off x="812800" y="2020491"/>
            <a:ext cx="1447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520D"/>
                </a:solidFill>
                <a:latin typeface="IBM Plex Sans" pitchFamily="34" charset="0"/>
                <a:ea typeface="IBM Plex Sans" pitchFamily="34" charset="-122"/>
                <a:cs typeface="IBM Plex Sans" pitchFamily="34" charset="-120"/>
              </a:rPr>
              <a:t>Portal</a:t>
            </a:r>
            <a:endParaRPr lang="en-US" sz="1300" dirty="0"/>
          </a:p>
        </p:txBody>
      </p:sp>
      <p:sp>
        <p:nvSpPr>
          <p:cNvPr id="5" name="Text 3"/>
          <p:cNvSpPr/>
          <p:nvPr/>
        </p:nvSpPr>
        <p:spPr>
          <a:xfrm>
            <a:off x="2317750" y="1912541"/>
            <a:ext cx="2070100" cy="447030"/>
          </a:xfrm>
          <a:prstGeom prst="roundRect">
            <a:avLst>
              <a:gd name="adj" fmla="val 12784"/>
            </a:avLst>
          </a:prstGeom>
          <a:solidFill>
            <a:srgbClr val="FFFFFF"/>
          </a:solidFill>
          <a:ln w="12700">
            <a:solidFill>
              <a:srgbClr val="1F2A44"/>
            </a:solidFill>
            <a:prstDash val="solid"/>
          </a:ln>
        </p:spPr>
        <p:txBody>
          <a:bodyPr wrap="square" lIns="116611" tIns="91211" rIns="62509" bIns="65811" rtlCol="0" anchor="t">
            <a:normAutofit/>
          </a:bodyPr>
          <a:lstStyle/>
          <a:p>
            <a:pPr algn="l" indent="0" marL="0">
              <a:lnSpc>
                <a:spcPts val="1820"/>
              </a:lnSpc>
              <a:buNone/>
            </a:pPr>
            <a:r>
              <a:rPr lang="en-US" sz="1300" dirty="0">
                <a:solidFill>
                  <a:srgbClr val="1F2A44"/>
                </a:solidFill>
                <a:latin typeface="IBM Plex Sans" pitchFamily="34" charset="0"/>
                <a:ea typeface="IBM Plex Sans" pitchFamily="34" charset="-122"/>
                <a:cs typeface="IBM Plex Sans" pitchFamily="34" charset="-120"/>
              </a:rPr>
              <a:t>Branch users</a:t>
            </a:r>
            <a:endParaRPr lang="en-US" sz="1300" dirty="0"/>
          </a:p>
        </p:txBody>
      </p:sp>
      <p:pic>
        <p:nvPicPr>
          <p:cNvPr id="6" name="Image 0" descr="arrow-right">    </p:cNvPr>
          <p:cNvPicPr>
            <a:picLocks noChangeAspect="1"/>
          </p:cNvPicPr>
          <p:nvPr/>
        </p:nvPicPr>
        <p:blipFill>
          <a:blip r:embed="rId1"/>
          <a:srcRect l="0" r="0" t="0" b="0"/>
          <a:stretch/>
        </p:blipFill>
        <p:spPr>
          <a:xfrm>
            <a:off x="4495800" y="2059880"/>
            <a:ext cx="304800" cy="152400"/>
          </a:xfrm>
          <a:prstGeom prst="rect">
            <a:avLst/>
          </a:prstGeom>
        </p:spPr>
      </p:pic>
      <p:sp>
        <p:nvSpPr>
          <p:cNvPr id="7" name="Text 4"/>
          <p:cNvSpPr/>
          <p:nvPr/>
        </p:nvSpPr>
        <p:spPr>
          <a:xfrm>
            <a:off x="4908550" y="1797000"/>
            <a:ext cx="2070100" cy="678160"/>
          </a:xfrm>
          <a:prstGeom prst="roundRect">
            <a:avLst>
              <a:gd name="adj" fmla="val 8427"/>
            </a:avLst>
          </a:prstGeom>
          <a:solidFill>
            <a:srgbClr val="FFFFFF"/>
          </a:solidFill>
          <a:ln w="12700">
            <a:solidFill>
              <a:srgbClr val="1F2A44"/>
            </a:solidFill>
            <a:prstDash val="solid"/>
          </a:ln>
        </p:spPr>
        <p:txBody>
          <a:bodyPr wrap="square" lIns="116611" tIns="91211" rIns="62509" bIns="65811" rtlCol="0" anchor="t">
            <a:normAutofit/>
          </a:bodyPr>
          <a:lstStyle/>
          <a:p>
            <a:pPr algn="l" indent="0" marL="0">
              <a:lnSpc>
                <a:spcPts val="1820"/>
              </a:lnSpc>
              <a:buNone/>
            </a:pPr>
            <a:r>
              <a:rPr lang="en-US" sz="1300" dirty="0">
                <a:solidFill>
                  <a:srgbClr val="1F2A44"/>
                </a:solidFill>
                <a:latin typeface="IBM Plex Sans" pitchFamily="34" charset="0"/>
                <a:ea typeface="IBM Plex Sans" pitchFamily="34" charset="-122"/>
                <a:cs typeface="IBM Plex Sans" pitchFamily="34" charset="-120"/>
              </a:rPr>
              <a:t>Application Load Balancer</a:t>
            </a:r>
            <a:endParaRPr lang="en-US" sz="1300" dirty="0"/>
          </a:p>
        </p:txBody>
      </p:sp>
      <p:pic>
        <p:nvPicPr>
          <p:cNvPr id="8" name="Image 1" descr="arrow-right">    </p:cNvPr>
          <p:cNvPicPr>
            <a:picLocks noChangeAspect="1"/>
          </p:cNvPicPr>
          <p:nvPr/>
        </p:nvPicPr>
        <p:blipFill>
          <a:blip r:embed="rId2"/>
          <a:srcRect l="0" r="0" t="0" b="0"/>
          <a:stretch/>
        </p:blipFill>
        <p:spPr>
          <a:xfrm>
            <a:off x="7086600" y="2059880"/>
            <a:ext cx="304800" cy="152400"/>
          </a:xfrm>
          <a:prstGeom prst="rect">
            <a:avLst/>
          </a:prstGeom>
        </p:spPr>
      </p:pic>
      <p:sp>
        <p:nvSpPr>
          <p:cNvPr id="9" name="Text 5"/>
          <p:cNvSpPr/>
          <p:nvPr/>
        </p:nvSpPr>
        <p:spPr>
          <a:xfrm>
            <a:off x="7499350" y="1912541"/>
            <a:ext cx="3873500" cy="447030"/>
          </a:xfrm>
          <a:prstGeom prst="roundRect">
            <a:avLst>
              <a:gd name="adj" fmla="val 12784"/>
            </a:avLst>
          </a:prstGeom>
          <a:solidFill>
            <a:srgbClr val="FFFFFF"/>
          </a:solidFill>
          <a:ln w="12700">
            <a:solidFill>
              <a:srgbClr val="1F2A44"/>
            </a:solidFill>
            <a:prstDash val="solid"/>
          </a:ln>
        </p:spPr>
        <p:txBody>
          <a:bodyPr wrap="square" lIns="116611" tIns="91211" rIns="8407" bIns="65811" rtlCol="0" anchor="t">
            <a:normAutofit/>
          </a:bodyPr>
          <a:lstStyle/>
          <a:p>
            <a:pPr algn="l" indent="0" marL="0">
              <a:lnSpc>
                <a:spcPts val="1820"/>
              </a:lnSpc>
              <a:buNone/>
            </a:pPr>
            <a:r>
              <a:rPr lang="en-US" sz="1300" dirty="0">
                <a:solidFill>
                  <a:srgbClr val="1F2A44"/>
                </a:solidFill>
                <a:latin typeface="IBM Plex Sans" pitchFamily="34" charset="0"/>
                <a:ea typeface="IBM Plex Sans" pitchFamily="34" charset="-122"/>
                <a:cs typeface="IBM Plex Sans" pitchFamily="34" charset="-120"/>
              </a:rPr>
              <a:t>EC2 Auto Scaling group, private subnets in 2 AZs</a:t>
            </a:r>
            <a:endParaRPr lang="en-US" sz="1300" dirty="0"/>
          </a:p>
        </p:txBody>
      </p:sp>
      <p:sp>
        <p:nvSpPr>
          <p:cNvPr id="10" name="Text 6"/>
          <p:cNvSpPr/>
          <p:nvPr/>
        </p:nvSpPr>
        <p:spPr>
          <a:xfrm>
            <a:off x="812800" y="2863751"/>
            <a:ext cx="1447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520D"/>
                </a:solidFill>
                <a:latin typeface="IBM Plex Sans" pitchFamily="34" charset="0"/>
                <a:ea typeface="IBM Plex Sans" pitchFamily="34" charset="-122"/>
                <a:cs typeface="IBM Plex Sans" pitchFamily="34" charset="-120"/>
              </a:rPr>
              <a:t>Processing</a:t>
            </a:r>
            <a:endParaRPr lang="en-US" sz="1300" dirty="0"/>
          </a:p>
        </p:txBody>
      </p:sp>
      <p:sp>
        <p:nvSpPr>
          <p:cNvPr id="11" name="Text 7"/>
          <p:cNvSpPr/>
          <p:nvPr/>
        </p:nvSpPr>
        <p:spPr>
          <a:xfrm>
            <a:off x="2317750" y="2755801"/>
            <a:ext cx="1873250" cy="447030"/>
          </a:xfrm>
          <a:prstGeom prst="roundRect">
            <a:avLst>
              <a:gd name="adj" fmla="val 12784"/>
            </a:avLst>
          </a:prstGeom>
          <a:solidFill>
            <a:srgbClr val="FFFFFF"/>
          </a:solidFill>
          <a:ln w="12700">
            <a:solidFill>
              <a:srgbClr val="1F2A44"/>
            </a:solidFill>
            <a:prstDash val="solid"/>
          </a:ln>
        </p:spPr>
        <p:txBody>
          <a:bodyPr wrap="square" lIns="116611" tIns="91211" rIns="65811" bIns="65811" rtlCol="0" anchor="t">
            <a:normAutofit/>
          </a:bodyPr>
          <a:lstStyle/>
          <a:p>
            <a:pPr algn="l" indent="0" marL="0">
              <a:lnSpc>
                <a:spcPts val="1820"/>
              </a:lnSpc>
              <a:buNone/>
            </a:pPr>
            <a:r>
              <a:rPr lang="en-US" sz="1300" dirty="0">
                <a:solidFill>
                  <a:srgbClr val="1F2A44"/>
                </a:solidFill>
                <a:latin typeface="IBM Plex Sans" pitchFamily="34" charset="0"/>
                <a:ea typeface="IBM Plex Sans" pitchFamily="34" charset="-122"/>
                <a:cs typeface="IBM Plex Sans" pitchFamily="34" charset="-120"/>
              </a:rPr>
              <a:t>EOD file (CSV)</a:t>
            </a:r>
            <a:endParaRPr lang="en-US" sz="1300" dirty="0"/>
          </a:p>
        </p:txBody>
      </p:sp>
      <p:pic>
        <p:nvPicPr>
          <p:cNvPr id="12" name="Image 2" descr="arrow-right">    </p:cNvPr>
          <p:cNvPicPr>
            <a:picLocks noChangeAspect="1"/>
          </p:cNvPicPr>
          <p:nvPr/>
        </p:nvPicPr>
        <p:blipFill>
          <a:blip r:embed="rId3"/>
          <a:srcRect l="0" r="0" t="0" b="0"/>
          <a:stretch/>
        </p:blipFill>
        <p:spPr>
          <a:xfrm>
            <a:off x="4298950" y="2903141"/>
            <a:ext cx="304800" cy="152400"/>
          </a:xfrm>
          <a:prstGeom prst="rect">
            <a:avLst/>
          </a:prstGeom>
        </p:spPr>
      </p:pic>
      <p:sp>
        <p:nvSpPr>
          <p:cNvPr id="13" name="Text 8"/>
          <p:cNvSpPr/>
          <p:nvPr/>
        </p:nvSpPr>
        <p:spPr>
          <a:xfrm>
            <a:off x="4711700" y="2755801"/>
            <a:ext cx="1873250" cy="447030"/>
          </a:xfrm>
          <a:prstGeom prst="roundRect">
            <a:avLst>
              <a:gd name="adj" fmla="val 12784"/>
            </a:avLst>
          </a:prstGeom>
          <a:solidFill>
            <a:srgbClr val="FFFFFF"/>
          </a:solidFill>
          <a:ln w="12700">
            <a:solidFill>
              <a:srgbClr val="1F2A44"/>
            </a:solidFill>
            <a:prstDash val="solid"/>
          </a:ln>
        </p:spPr>
        <p:txBody>
          <a:bodyPr wrap="square" lIns="116611" tIns="91211" rIns="65811" bIns="65811" rtlCol="0" anchor="t">
            <a:normAutofit/>
          </a:bodyPr>
          <a:lstStyle/>
          <a:p>
            <a:pPr algn="l" indent="0" marL="0">
              <a:lnSpc>
                <a:spcPts val="1820"/>
              </a:lnSpc>
              <a:buNone/>
            </a:pPr>
            <a:r>
              <a:rPr lang="en-US" sz="1300" dirty="0">
                <a:solidFill>
                  <a:srgbClr val="1F2A44"/>
                </a:solidFill>
                <a:latin typeface="IBM Plex Sans" pitchFamily="34" charset="0"/>
                <a:ea typeface="IBM Plex Sans" pitchFamily="34" charset="-122"/>
                <a:cs typeface="IBM Plex Sans" pitchFamily="34" charset="-120"/>
              </a:rPr>
              <a:t>S3 incoming bucket</a:t>
            </a:r>
            <a:endParaRPr lang="en-US" sz="1300" dirty="0"/>
          </a:p>
        </p:txBody>
      </p:sp>
      <p:pic>
        <p:nvPicPr>
          <p:cNvPr id="14" name="Image 3" descr="arrow-right">    </p:cNvPr>
          <p:cNvPicPr>
            <a:picLocks noChangeAspect="1"/>
          </p:cNvPicPr>
          <p:nvPr/>
        </p:nvPicPr>
        <p:blipFill>
          <a:blip r:embed="rId4"/>
          <a:srcRect l="0" r="0" t="0" b="0"/>
          <a:stretch/>
        </p:blipFill>
        <p:spPr>
          <a:xfrm>
            <a:off x="6692900" y="2903141"/>
            <a:ext cx="304800" cy="152400"/>
          </a:xfrm>
          <a:prstGeom prst="rect">
            <a:avLst/>
          </a:prstGeom>
        </p:spPr>
      </p:pic>
      <p:sp>
        <p:nvSpPr>
          <p:cNvPr id="15" name="Text 9"/>
          <p:cNvSpPr/>
          <p:nvPr/>
        </p:nvSpPr>
        <p:spPr>
          <a:xfrm>
            <a:off x="7105650" y="2640261"/>
            <a:ext cx="1873250" cy="678160"/>
          </a:xfrm>
          <a:prstGeom prst="roundRect">
            <a:avLst>
              <a:gd name="adj" fmla="val 8427"/>
            </a:avLst>
          </a:prstGeom>
          <a:solidFill>
            <a:srgbClr val="FFFFFF"/>
          </a:solidFill>
          <a:ln w="12700">
            <a:solidFill>
              <a:srgbClr val="1F2A44"/>
            </a:solidFill>
            <a:prstDash val="solid"/>
          </a:ln>
        </p:spPr>
        <p:txBody>
          <a:bodyPr wrap="square" lIns="116611" tIns="91211" rIns="65811" bIns="65811" rtlCol="0" anchor="t">
            <a:normAutofit/>
          </a:bodyPr>
          <a:lstStyle/>
          <a:p>
            <a:pPr algn="l" indent="0" marL="0">
              <a:lnSpc>
                <a:spcPts val="1820"/>
              </a:lnSpc>
              <a:buNone/>
            </a:pPr>
            <a:r>
              <a:rPr lang="en-US" sz="1300" dirty="0">
                <a:solidFill>
                  <a:srgbClr val="1F2A44"/>
                </a:solidFill>
                <a:latin typeface="IBM Plex Sans" pitchFamily="34" charset="0"/>
                <a:ea typeface="IBM Plex Sans" pitchFamily="34" charset="-122"/>
                <a:cs typeface="IBM Plex Sans" pitchFamily="34" charset="-120"/>
              </a:rPr>
              <a:t>Lambda: validate, flag</a:t>
            </a:r>
            <a:endParaRPr lang="en-US" sz="1300" dirty="0"/>
          </a:p>
        </p:txBody>
      </p:sp>
      <p:pic>
        <p:nvPicPr>
          <p:cNvPr id="16" name="Image 4" descr="arrow-right">    </p:cNvPr>
          <p:cNvPicPr>
            <a:picLocks noChangeAspect="1"/>
          </p:cNvPicPr>
          <p:nvPr/>
        </p:nvPicPr>
        <p:blipFill>
          <a:blip r:embed="rId5"/>
          <a:srcRect l="0" r="0" t="0" b="0"/>
          <a:stretch/>
        </p:blipFill>
        <p:spPr>
          <a:xfrm>
            <a:off x="9086850" y="2903141"/>
            <a:ext cx="304800" cy="152400"/>
          </a:xfrm>
          <a:prstGeom prst="rect">
            <a:avLst/>
          </a:prstGeom>
        </p:spPr>
      </p:pic>
      <p:sp>
        <p:nvSpPr>
          <p:cNvPr id="17" name="Text 10"/>
          <p:cNvSpPr/>
          <p:nvPr/>
        </p:nvSpPr>
        <p:spPr>
          <a:xfrm>
            <a:off x="9499600" y="2640261"/>
            <a:ext cx="1873250" cy="678160"/>
          </a:xfrm>
          <a:prstGeom prst="roundRect">
            <a:avLst>
              <a:gd name="adj" fmla="val 8427"/>
            </a:avLst>
          </a:prstGeom>
          <a:solidFill>
            <a:srgbClr val="FFFFFF"/>
          </a:solidFill>
          <a:ln w="12700">
            <a:solidFill>
              <a:srgbClr val="1F2A44"/>
            </a:solidFill>
            <a:prstDash val="solid"/>
          </a:ln>
        </p:spPr>
        <p:txBody>
          <a:bodyPr wrap="square" lIns="116611" tIns="91211" rIns="65811" bIns="65811" rtlCol="0" anchor="t">
            <a:normAutofit/>
          </a:bodyPr>
          <a:lstStyle/>
          <a:p>
            <a:pPr algn="l" indent="0" marL="0">
              <a:lnSpc>
                <a:spcPts val="1820"/>
              </a:lnSpc>
              <a:buNone/>
            </a:pPr>
            <a:r>
              <a:rPr lang="en-US" sz="1300" dirty="0">
                <a:solidFill>
                  <a:srgbClr val="1F2A44"/>
                </a:solidFill>
                <a:latin typeface="IBM Plex Sans" pitchFamily="34" charset="0"/>
                <a:ea typeface="IBM Plex Sans" pitchFamily="34" charset="-122"/>
                <a:cs typeface="IBM Plex Sans" pitchFamily="34" charset="-120"/>
              </a:rPr>
              <a:t>S3 processed + CloudWatch</a:t>
            </a:r>
            <a:endParaRPr lang="en-US" sz="1300" dirty="0"/>
          </a:p>
        </p:txBody>
      </p:sp>
      <p:sp>
        <p:nvSpPr>
          <p:cNvPr id="18" name="Text 11"/>
          <p:cNvSpPr/>
          <p:nvPr/>
        </p:nvSpPr>
        <p:spPr>
          <a:xfrm>
            <a:off x="812800" y="3591471"/>
            <a:ext cx="1447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520D"/>
                </a:solidFill>
                <a:latin typeface="IBM Plex Sans" pitchFamily="34" charset="0"/>
                <a:ea typeface="IBM Plex Sans" pitchFamily="34" charset="-122"/>
                <a:cs typeface="IBM Plex Sans" pitchFamily="34" charset="-120"/>
              </a:rPr>
              <a:t>Release</a:t>
            </a:r>
            <a:endParaRPr lang="en-US" sz="1300" dirty="0"/>
          </a:p>
        </p:txBody>
      </p:sp>
      <p:sp>
        <p:nvSpPr>
          <p:cNvPr id="19" name="Text 12"/>
          <p:cNvSpPr/>
          <p:nvPr/>
        </p:nvSpPr>
        <p:spPr>
          <a:xfrm>
            <a:off x="2317750" y="3483521"/>
            <a:ext cx="1873250" cy="447030"/>
          </a:xfrm>
          <a:prstGeom prst="roundRect">
            <a:avLst>
              <a:gd name="adj" fmla="val 12784"/>
            </a:avLst>
          </a:prstGeom>
          <a:solidFill>
            <a:srgbClr val="FFFFFF"/>
          </a:solidFill>
          <a:ln w="12700">
            <a:solidFill>
              <a:srgbClr val="1F2A44"/>
            </a:solidFill>
            <a:prstDash val="solid"/>
          </a:ln>
        </p:spPr>
        <p:txBody>
          <a:bodyPr wrap="square" lIns="116611" tIns="91211" rIns="65811" bIns="65811" rtlCol="0" anchor="t">
            <a:normAutofit/>
          </a:bodyPr>
          <a:lstStyle/>
          <a:p>
            <a:pPr algn="l" indent="0" marL="0">
              <a:lnSpc>
                <a:spcPts val="1820"/>
              </a:lnSpc>
              <a:buNone/>
            </a:pPr>
            <a:r>
              <a:rPr lang="en-US" sz="1300" dirty="0">
                <a:solidFill>
                  <a:srgbClr val="1F2A44"/>
                </a:solidFill>
                <a:latin typeface="IBM Plex Sans" pitchFamily="34" charset="0"/>
                <a:ea typeface="IBM Plex Sans" pitchFamily="34" charset="-122"/>
                <a:cs typeface="IBM Plex Sans" pitchFamily="34" charset="-120"/>
              </a:rPr>
              <a:t>git push</a:t>
            </a:r>
            <a:endParaRPr lang="en-US" sz="1300" dirty="0"/>
          </a:p>
        </p:txBody>
      </p:sp>
      <p:pic>
        <p:nvPicPr>
          <p:cNvPr id="20" name="Image 5" descr="arrow-right">    </p:cNvPr>
          <p:cNvPicPr>
            <a:picLocks noChangeAspect="1"/>
          </p:cNvPicPr>
          <p:nvPr/>
        </p:nvPicPr>
        <p:blipFill>
          <a:blip r:embed="rId6"/>
          <a:srcRect l="0" r="0" t="0" b="0"/>
          <a:stretch/>
        </p:blipFill>
        <p:spPr>
          <a:xfrm>
            <a:off x="4298950" y="3630811"/>
            <a:ext cx="304800" cy="152400"/>
          </a:xfrm>
          <a:prstGeom prst="rect">
            <a:avLst/>
          </a:prstGeom>
        </p:spPr>
      </p:pic>
      <p:sp>
        <p:nvSpPr>
          <p:cNvPr id="21" name="Text 13"/>
          <p:cNvSpPr/>
          <p:nvPr/>
        </p:nvSpPr>
        <p:spPr>
          <a:xfrm>
            <a:off x="4711700" y="3483521"/>
            <a:ext cx="1873250" cy="447030"/>
          </a:xfrm>
          <a:prstGeom prst="roundRect">
            <a:avLst>
              <a:gd name="adj" fmla="val 12784"/>
            </a:avLst>
          </a:prstGeom>
          <a:solidFill>
            <a:srgbClr val="FFFFFF"/>
          </a:solidFill>
          <a:ln w="12700">
            <a:solidFill>
              <a:srgbClr val="1F2A44"/>
            </a:solidFill>
            <a:prstDash val="solid"/>
          </a:ln>
        </p:spPr>
        <p:txBody>
          <a:bodyPr wrap="square" lIns="116611" tIns="91211" rIns="65811" bIns="65811" rtlCol="0" anchor="t">
            <a:normAutofit/>
          </a:bodyPr>
          <a:lstStyle/>
          <a:p>
            <a:pPr algn="l" indent="0" marL="0">
              <a:lnSpc>
                <a:spcPts val="1820"/>
              </a:lnSpc>
              <a:buNone/>
            </a:pPr>
            <a:r>
              <a:rPr lang="en-US" sz="1300" dirty="0">
                <a:solidFill>
                  <a:srgbClr val="1F2A44"/>
                </a:solidFill>
                <a:latin typeface="IBM Plex Sans" pitchFamily="34" charset="0"/>
                <a:ea typeface="IBM Plex Sans" pitchFamily="34" charset="-122"/>
                <a:cs typeface="IBM Plex Sans" pitchFamily="34" charset="-120"/>
              </a:rPr>
              <a:t>CodeBuild unit tests</a:t>
            </a:r>
            <a:endParaRPr lang="en-US" sz="1300" dirty="0"/>
          </a:p>
        </p:txBody>
      </p:sp>
      <p:pic>
        <p:nvPicPr>
          <p:cNvPr id="22" name="Image 6" descr="arrow-right">    </p:cNvPr>
          <p:cNvPicPr>
            <a:picLocks noChangeAspect="1"/>
          </p:cNvPicPr>
          <p:nvPr/>
        </p:nvPicPr>
        <p:blipFill>
          <a:blip r:embed="rId7"/>
          <a:srcRect l="0" r="0" t="0" b="0"/>
          <a:stretch/>
        </p:blipFill>
        <p:spPr>
          <a:xfrm>
            <a:off x="6692900" y="3630811"/>
            <a:ext cx="304800" cy="152400"/>
          </a:xfrm>
          <a:prstGeom prst="rect">
            <a:avLst/>
          </a:prstGeom>
        </p:spPr>
      </p:pic>
      <p:sp>
        <p:nvSpPr>
          <p:cNvPr id="23" name="Text 14"/>
          <p:cNvSpPr/>
          <p:nvPr/>
        </p:nvSpPr>
        <p:spPr>
          <a:xfrm>
            <a:off x="7105650" y="3483521"/>
            <a:ext cx="1873250" cy="447030"/>
          </a:xfrm>
          <a:prstGeom prst="roundRect">
            <a:avLst>
              <a:gd name="adj" fmla="val 12784"/>
            </a:avLst>
          </a:prstGeom>
          <a:solidFill>
            <a:srgbClr val="FFFFFF"/>
          </a:solidFill>
          <a:ln w="12700">
            <a:solidFill>
              <a:srgbClr val="1F2A44"/>
            </a:solidFill>
            <a:prstDash val="solid"/>
          </a:ln>
        </p:spPr>
        <p:txBody>
          <a:bodyPr wrap="square" lIns="116611" tIns="91211" rIns="65811" bIns="65811" rtlCol="0" anchor="t">
            <a:normAutofit/>
          </a:bodyPr>
          <a:lstStyle/>
          <a:p>
            <a:pPr algn="l" indent="0" marL="0">
              <a:lnSpc>
                <a:spcPts val="1820"/>
              </a:lnSpc>
              <a:buNone/>
            </a:pPr>
            <a:r>
              <a:rPr lang="en-US" sz="1300" dirty="0">
                <a:solidFill>
                  <a:srgbClr val="1F2A44"/>
                </a:solidFill>
                <a:latin typeface="IBM Plex Sans" pitchFamily="34" charset="0"/>
                <a:ea typeface="IBM Plex Sans" pitchFamily="34" charset="-122"/>
                <a:cs typeface="IBM Plex Sans" pitchFamily="34" charset="-120"/>
              </a:rPr>
              <a:t>Manual approval</a:t>
            </a:r>
            <a:endParaRPr lang="en-US" sz="1300" dirty="0"/>
          </a:p>
        </p:txBody>
      </p:sp>
      <p:pic>
        <p:nvPicPr>
          <p:cNvPr id="24" name="Image 7" descr="arrow-right">    </p:cNvPr>
          <p:cNvPicPr>
            <a:picLocks noChangeAspect="1"/>
          </p:cNvPicPr>
          <p:nvPr/>
        </p:nvPicPr>
        <p:blipFill>
          <a:blip r:embed="rId8"/>
          <a:srcRect l="0" r="0" t="0" b="0"/>
          <a:stretch/>
        </p:blipFill>
        <p:spPr>
          <a:xfrm>
            <a:off x="9086850" y="3630811"/>
            <a:ext cx="304800" cy="152400"/>
          </a:xfrm>
          <a:prstGeom prst="rect">
            <a:avLst/>
          </a:prstGeom>
        </p:spPr>
      </p:pic>
      <p:sp>
        <p:nvSpPr>
          <p:cNvPr id="25" name="Text 15"/>
          <p:cNvSpPr/>
          <p:nvPr/>
        </p:nvSpPr>
        <p:spPr>
          <a:xfrm>
            <a:off x="9499600" y="3483521"/>
            <a:ext cx="1873250" cy="447030"/>
          </a:xfrm>
          <a:prstGeom prst="roundRect">
            <a:avLst>
              <a:gd name="adj" fmla="val 12784"/>
            </a:avLst>
          </a:prstGeom>
          <a:solidFill>
            <a:srgbClr val="FFFFFF"/>
          </a:solidFill>
          <a:ln w="12700">
            <a:solidFill>
              <a:srgbClr val="1F2A44"/>
            </a:solidFill>
            <a:prstDash val="solid"/>
          </a:ln>
        </p:spPr>
        <p:txBody>
          <a:bodyPr wrap="square" lIns="116611" tIns="91211" rIns="65811" bIns="65811" rtlCol="0" anchor="t">
            <a:normAutofit/>
          </a:bodyPr>
          <a:lstStyle/>
          <a:p>
            <a:pPr algn="l" indent="0" marL="0">
              <a:lnSpc>
                <a:spcPts val="1820"/>
              </a:lnSpc>
              <a:buNone/>
            </a:pPr>
            <a:r>
              <a:rPr lang="en-US" sz="1300" dirty="0">
                <a:solidFill>
                  <a:srgbClr val="1F2A44"/>
                </a:solidFill>
                <a:latin typeface="IBM Plex Sans" pitchFamily="34" charset="0"/>
                <a:ea typeface="IBM Plex Sans" pitchFamily="34" charset="-122"/>
                <a:cs typeface="IBM Plex Sans" pitchFamily="34" charset="-120"/>
              </a:rPr>
              <a:t>Deploy to Lambda</a:t>
            </a:r>
            <a:endParaRPr lang="en-US" sz="1300" dirty="0"/>
          </a:p>
        </p:txBody>
      </p:sp>
      <p:sp>
        <p:nvSpPr>
          <p:cNvPr id="26" name="Text 16"/>
          <p:cNvSpPr/>
          <p:nvPr/>
        </p:nvSpPr>
        <p:spPr>
          <a:xfrm>
            <a:off x="812800" y="4203601"/>
            <a:ext cx="1447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520D"/>
                </a:solidFill>
                <a:latin typeface="IBM Plex Sans" pitchFamily="34" charset="0"/>
                <a:ea typeface="IBM Plex Sans" pitchFamily="34" charset="-122"/>
                <a:cs typeface="IBM Plex Sans" pitchFamily="34" charset="-120"/>
              </a:rPr>
              <a:t>Security</a:t>
            </a:r>
            <a:endParaRPr lang="en-US" sz="1300" dirty="0"/>
          </a:p>
        </p:txBody>
      </p:sp>
      <p:sp>
        <p:nvSpPr>
          <p:cNvPr id="27" name="Shape 17"/>
          <p:cNvSpPr/>
          <p:nvPr/>
        </p:nvSpPr>
        <p:spPr>
          <a:xfrm>
            <a:off x="2311400" y="4089301"/>
            <a:ext cx="9067800" cy="459730"/>
          </a:xfrm>
          <a:prstGeom prst="roundRect">
            <a:avLst>
              <a:gd name="adj" fmla="val 13812"/>
            </a:avLst>
          </a:prstGeom>
          <a:solidFill>
            <a:srgbClr val="1F2A44"/>
          </a:solidFill>
          <a:ln/>
        </p:spPr>
      </p:sp>
      <p:sp>
        <p:nvSpPr>
          <p:cNvPr id="28" name="Text 18"/>
          <p:cNvSpPr/>
          <p:nvPr/>
        </p:nvSpPr>
        <p:spPr>
          <a:xfrm>
            <a:off x="2463800" y="4203601"/>
            <a:ext cx="40159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7F4"/>
                </a:solidFill>
                <a:latin typeface="IBM Plex Sans" pitchFamily="34" charset="0"/>
                <a:ea typeface="IBM Plex Sans" pitchFamily="34" charset="-122"/>
                <a:cs typeface="IBM Plex Sans" pitchFamily="34" charset="-120"/>
              </a:rPr>
              <a:t>KMS</a:t>
            </a:r>
            <a:endParaRPr lang="en-US" sz="1300" dirty="0"/>
          </a:p>
        </p:txBody>
      </p:sp>
      <p:sp>
        <p:nvSpPr>
          <p:cNvPr id="29" name="Text 19"/>
          <p:cNvSpPr/>
          <p:nvPr/>
        </p:nvSpPr>
        <p:spPr>
          <a:xfrm>
            <a:off x="4132411" y="4203601"/>
            <a:ext cx="36712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7F4"/>
                </a:solidFill>
                <a:latin typeface="IBM Plex Sans" pitchFamily="34" charset="0"/>
                <a:ea typeface="IBM Plex Sans" pitchFamily="34" charset="-122"/>
                <a:cs typeface="IBM Plex Sans" pitchFamily="34" charset="-120"/>
              </a:rPr>
              <a:t>IAM</a:t>
            </a:r>
            <a:endParaRPr lang="en-US" sz="1300" dirty="0"/>
          </a:p>
        </p:txBody>
      </p:sp>
      <p:sp>
        <p:nvSpPr>
          <p:cNvPr id="30" name="Text 20"/>
          <p:cNvSpPr/>
          <p:nvPr/>
        </p:nvSpPr>
        <p:spPr>
          <a:xfrm>
            <a:off x="5772299" y="4203601"/>
            <a:ext cx="148673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7F4"/>
                </a:solidFill>
                <a:latin typeface="IBM Plex Sans" pitchFamily="34" charset="0"/>
                <a:ea typeface="IBM Plex Sans" pitchFamily="34" charset="-122"/>
                <a:cs typeface="IBM Plex Sans" pitchFamily="34" charset="-120"/>
              </a:rPr>
              <a:t>Secrets Manager</a:t>
            </a:r>
            <a:endParaRPr lang="en-US" sz="1300" dirty="0"/>
          </a:p>
        </p:txBody>
      </p:sp>
      <p:sp>
        <p:nvSpPr>
          <p:cNvPr id="31" name="Text 21"/>
          <p:cNvSpPr/>
          <p:nvPr/>
        </p:nvSpPr>
        <p:spPr>
          <a:xfrm>
            <a:off x="8345140" y="4203601"/>
            <a:ext cx="90088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7F4"/>
                </a:solidFill>
                <a:latin typeface="IBM Plex Sans" pitchFamily="34" charset="0"/>
                <a:ea typeface="IBM Plex Sans" pitchFamily="34" charset="-122"/>
                <a:cs typeface="IBM Plex Sans" pitchFamily="34" charset="-120"/>
              </a:rPr>
              <a:t>CloudTrail</a:t>
            </a:r>
            <a:endParaRPr lang="en-US" sz="1300" dirty="0"/>
          </a:p>
        </p:txBody>
      </p:sp>
      <p:sp>
        <p:nvSpPr>
          <p:cNvPr id="32" name="Text 22"/>
          <p:cNvSpPr/>
          <p:nvPr/>
        </p:nvSpPr>
        <p:spPr>
          <a:xfrm>
            <a:off x="10270430" y="4203601"/>
            <a:ext cx="956370" cy="25653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7F7F4"/>
                </a:solidFill>
                <a:latin typeface="IBM Plex Sans" pitchFamily="34" charset="0"/>
                <a:ea typeface="IBM Plex Sans" pitchFamily="34" charset="-122"/>
                <a:cs typeface="IBM Plex Sans" pitchFamily="34" charset="-120"/>
              </a:rPr>
              <a:t>GuardDuty</a:t>
            </a:r>
            <a:endParaRPr lang="en-US" sz="1300" dirty="0"/>
          </a:p>
        </p:txBody>
      </p:sp>
      <p:sp>
        <p:nvSpPr>
          <p:cNvPr id="33" name="Text 2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AWS demo · Branch EOD processing</a:t>
            </a:r>
            <a:endParaRPr lang="en-US" sz="1200" dirty="0"/>
          </a:p>
        </p:txBody>
      </p:sp>
      <p:sp>
        <p:nvSpPr>
          <p:cNvPr id="34"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44"/>
                </a:solidFill>
                <a:latin typeface="IBM Plex Sans" pitchFamily="34" charset="0"/>
                <a:ea typeface="IBM Plex Sans" pitchFamily="34" charset="-122"/>
                <a:cs typeface="IBM Plex Sans" pitchFamily="34" charset="-120"/>
              </a:rPr>
              <a:t>What I’ll show you live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716014"/>
        </p:xfrm>
        <a:graphic>
          <a:graphicData uri="http://schemas.openxmlformats.org/drawingml/2006/table">
            <a:tbl>
              <a:tblPr/>
              <a:tblGrid>
                <a:gridCol w="1688592"/>
                <a:gridCol w="5487924"/>
                <a:gridCol w="3377184"/>
              </a:tblGrid>
              <a:tr h="372666">
                <a:tc>
                  <a:txBody>
                    <a:bodyPr/>
                    <a:lstStyle/>
                    <a:p>
                      <a:pPr indent="0" marL="0">
                        <a:lnSpc>
                          <a:spcPts val="1890"/>
                        </a:lnSpc>
                        <a:buNone/>
                      </a:pPr>
                      <a:r>
                        <a:rPr lang="en-US" sz="1350" b="1" dirty="0">
                          <a:solidFill>
                            <a:srgbClr val="F7F7F4"/>
                          </a:solidFill>
                          <a:latin typeface="IBM Plex Sans" pitchFamily="34" charset="0"/>
                          <a:ea typeface="IBM Plex Sans" pitchFamily="34" charset="-122"/>
                          <a:cs typeface="IBM Plex Sans" pitchFamily="34" charset="-120"/>
                        </a:rPr>
                        <a:t>Step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c>
                  <a:txBody>
                    <a:bodyPr/>
                    <a:lstStyle/>
                    <a:p>
                      <a:pPr indent="0" marL="0">
                        <a:lnSpc>
                          <a:spcPts val="1890"/>
                        </a:lnSpc>
                        <a:buNone/>
                      </a:pPr>
                      <a:r>
                        <a:rPr lang="en-US" sz="1350" b="1" dirty="0">
                          <a:solidFill>
                            <a:srgbClr val="F7F7F4"/>
                          </a:solidFill>
                          <a:latin typeface="IBM Plex Sans" pitchFamily="34" charset="0"/>
                          <a:ea typeface="IBM Plex Sans" pitchFamily="34" charset="-122"/>
                          <a:cs typeface="IBM Plex Sans" pitchFamily="34" charset="-120"/>
                        </a:rPr>
                        <a:t>What happens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D2539"/>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c>
                  <a:txBody>
                    <a:bodyPr/>
                    <a:lstStyle/>
                    <a:p>
                      <a:pPr indent="0" marL="0">
                        <a:lnSpc>
                          <a:spcPts val="1890"/>
                        </a:lnSpc>
                        <a:buNone/>
                      </a:pPr>
                      <a:r>
                        <a:rPr lang="en-US" sz="1350" b="1" dirty="0">
                          <a:solidFill>
                            <a:srgbClr val="F7F7F4"/>
                          </a:solidFill>
                          <a:latin typeface="IBM Plex Sans" pitchFamily="34" charset="0"/>
                          <a:ea typeface="IBM Plex Sans" pitchFamily="34" charset="-122"/>
                          <a:cs typeface="IBM Plex Sans" pitchFamily="34" charset="-120"/>
                        </a:rPr>
                        <a:t>Services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D2539"/>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r>
              <a:tr h="372666">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1. Build it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One terraform apply creates 18 resources in about a minute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Terraform, CloudFormation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72666">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2. Break it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I terminate one of the portal servers in the middle of the session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EC2, ALB, Auto Scaling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r>
              <a:tr h="612676">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3. Run it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Branch file uploaded, 2 transactions above ₹10 lakh flagged, a bad file rejected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S3, Lambda, Secrets Manager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612676">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4. Change it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Compliance lowers the threshold to ₹5 lakh: tested, approved, deployed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CodePipeline, CodeBuild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r>
              <a:tr h="372666">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5. Secure it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Encrypted data, auditor gets AccessDenied, audit trail, threat finding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KMS, IAM, CloudTrail, GuardDuty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
        <p:nvSpPr>
          <p:cNvPr id="4" name="Text 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AWS demo · Branch EOD processing</a:t>
            </a:r>
            <a:endParaRPr lang="en-US" sz="1200" dirty="0"/>
          </a:p>
        </p:txBody>
      </p:sp>
      <p:sp>
        <p:nvSpPr>
          <p:cNvPr id="5" name="Text 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2A4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7F7F4"/>
                </a:solidFill>
                <a:latin typeface="IBM Plex Sans" pitchFamily="34" charset="0"/>
                <a:ea typeface="IBM Plex Sans" pitchFamily="34" charset="-122"/>
                <a:cs typeface="IBM Plex Sans" pitchFamily="34" charset="-120"/>
              </a:rPr>
              <a:t>A rule change, start to finish</a:t>
            </a:r>
            <a:endParaRPr lang="en-US" sz="3200" dirty="0"/>
          </a:p>
        </p:txBody>
      </p:sp>
      <p:sp>
        <p:nvSpPr>
          <p:cNvPr id="3" name="Shape 1"/>
          <p:cNvSpPr/>
          <p:nvPr/>
        </p:nvSpPr>
        <p:spPr>
          <a:xfrm>
            <a:off x="815975" y="1588095"/>
            <a:ext cx="10560050" cy="1332111"/>
          </a:xfrm>
          <a:prstGeom prst="roundRect">
            <a:avLst>
              <a:gd name="adj" fmla="val 4529"/>
            </a:avLst>
          </a:prstGeom>
          <a:solidFill>
            <a:srgbClr val="16203A"/>
          </a:solidFill>
          <a:ln w="6350">
            <a:solidFill>
              <a:srgbClr val="3A4766"/>
            </a:solidFill>
            <a:prstDash val="solid"/>
          </a:ln>
        </p:spPr>
      </p:sp>
      <p:sp>
        <p:nvSpPr>
          <p:cNvPr id="4" name="Text 2"/>
          <p:cNvSpPr/>
          <p:nvPr/>
        </p:nvSpPr>
        <p:spPr>
          <a:xfrm>
            <a:off x="1047750" y="1769070"/>
            <a:ext cx="103993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EDC"/>
                </a:solidFill>
                <a:latin typeface="IBM Plex Sans" pitchFamily="34" charset="0"/>
                <a:ea typeface="IBM Plex Sans" pitchFamily="34" charset="-122"/>
                <a:cs typeface="IBM Plex Sans" pitchFamily="34" charset="-120"/>
              </a:rPr>
              <a:t>lambda/config.py</a:t>
            </a:r>
            <a:endParaRPr lang="en-US" sz="1200" dirty="0"/>
          </a:p>
        </p:txBody>
      </p:sp>
      <p:sp>
        <p:nvSpPr>
          <p:cNvPr id="5" name="Text 3"/>
          <p:cNvSpPr/>
          <p:nvPr/>
        </p:nvSpPr>
        <p:spPr>
          <a:xfrm>
            <a:off x="1047750" y="2058591"/>
            <a:ext cx="1039939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0A04B"/>
                </a:solidFill>
                <a:latin typeface="JetBrains Mono" pitchFamily="49" charset="0"/>
                <a:ea typeface="JetBrains Mono" pitchFamily="49" charset="-122"/>
                <a:cs typeface="JetBrains Mono" pitchFamily="49" charset="-120"/>
              </a:rPr>
              <a:t>-</a:t>
            </a:r>
            <a:r>
              <a:rPr lang="en-US" sz="1700" dirty="0">
                <a:solidFill>
                  <a:srgbClr val="C5CEDC"/>
                </a:solidFill>
                <a:latin typeface="JetBrains Mono" pitchFamily="49" charset="0"/>
                <a:ea typeface="JetBrains Mono" pitchFamily="49" charset="-122"/>
                <a:cs typeface="JetBrains Mono" pitchFamily="49" charset="-120"/>
              </a:rPr>
              <a:t> THRESHOLD_INR = 10_00_000</a:t>
            </a:r>
            <a:endParaRPr lang="en-US" sz="1700" dirty="0"/>
          </a:p>
        </p:txBody>
      </p:sp>
      <p:sp>
        <p:nvSpPr>
          <p:cNvPr id="6" name="Text 4"/>
          <p:cNvSpPr/>
          <p:nvPr/>
        </p:nvSpPr>
        <p:spPr>
          <a:xfrm>
            <a:off x="1047750" y="2437011"/>
            <a:ext cx="1039939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0A04B"/>
                </a:solidFill>
                <a:latin typeface="JetBrains Mono" pitchFamily="49" charset="0"/>
                <a:ea typeface="JetBrains Mono" pitchFamily="49" charset="-122"/>
                <a:cs typeface="JetBrains Mono" pitchFamily="49" charset="-120"/>
              </a:rPr>
              <a:t>+</a:t>
            </a:r>
            <a:r>
              <a:rPr lang="en-US" sz="1700" dirty="0">
                <a:solidFill>
                  <a:srgbClr val="F7F7F4"/>
                </a:solidFill>
                <a:latin typeface="JetBrains Mono" pitchFamily="49" charset="0"/>
                <a:ea typeface="JetBrains Mono" pitchFamily="49" charset="-122"/>
                <a:cs typeface="JetBrains Mono" pitchFamily="49" charset="-120"/>
              </a:rPr>
              <a:t> THRESHOLD_INR = 5_00_000</a:t>
            </a:r>
            <a:endParaRPr lang="en-US" sz="1700" dirty="0"/>
          </a:p>
        </p:txBody>
      </p:sp>
      <p:sp>
        <p:nvSpPr>
          <p:cNvPr id="7" name="Shape 5"/>
          <p:cNvSpPr/>
          <p:nvPr/>
        </p:nvSpPr>
        <p:spPr>
          <a:xfrm>
            <a:off x="819150" y="3234531"/>
            <a:ext cx="2533650" cy="1059160"/>
          </a:xfrm>
          <a:prstGeom prst="roundRect">
            <a:avLst>
              <a:gd name="adj" fmla="val 5396"/>
            </a:avLst>
          </a:prstGeom>
          <a:noFill/>
          <a:ln w="12700">
            <a:solidFill>
              <a:srgbClr val="F0A04B"/>
            </a:solidFill>
            <a:prstDash val="solid"/>
          </a:ln>
        </p:spPr>
      </p:sp>
      <p:sp>
        <p:nvSpPr>
          <p:cNvPr id="8" name="Text 6"/>
          <p:cNvSpPr/>
          <p:nvPr/>
        </p:nvSpPr>
        <p:spPr>
          <a:xfrm>
            <a:off x="1003300" y="339328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04B"/>
                </a:solidFill>
                <a:latin typeface="IBM Plex Sans" pitchFamily="34" charset="0"/>
                <a:ea typeface="IBM Plex Sans" pitchFamily="34" charset="-122"/>
                <a:cs typeface="IBM Plex Sans" pitchFamily="34" charset="-120"/>
              </a:rPr>
              <a:t>Push</a:t>
            </a:r>
            <a:endParaRPr lang="en-US" sz="1500" dirty="0"/>
          </a:p>
        </p:txBody>
      </p:sp>
      <p:sp>
        <p:nvSpPr>
          <p:cNvPr id="9" name="Text 7"/>
          <p:cNvSpPr/>
          <p:nvPr/>
        </p:nvSpPr>
        <p:spPr>
          <a:xfrm>
            <a:off x="1003300" y="3672681"/>
            <a:ext cx="2230311"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EDC"/>
                </a:solidFill>
                <a:latin typeface="IBM Plex Sans" pitchFamily="34" charset="0"/>
                <a:ea typeface="IBM Plex Sans" pitchFamily="34" charset="-122"/>
                <a:cs typeface="IBM Plex Sans" pitchFamily="34" charset="-120"/>
              </a:rPr>
              <a:t>Commit to GitHub, pipeline starts on its own</a:t>
            </a:r>
            <a:endParaRPr lang="en-US" sz="1300" dirty="0"/>
          </a:p>
        </p:txBody>
      </p:sp>
      <p:sp>
        <p:nvSpPr>
          <p:cNvPr id="10" name="Shape 8"/>
          <p:cNvSpPr/>
          <p:nvPr/>
        </p:nvSpPr>
        <p:spPr>
          <a:xfrm>
            <a:off x="3492500" y="3234531"/>
            <a:ext cx="2533650" cy="1059160"/>
          </a:xfrm>
          <a:prstGeom prst="roundRect">
            <a:avLst>
              <a:gd name="adj" fmla="val 5396"/>
            </a:avLst>
          </a:prstGeom>
          <a:noFill/>
          <a:ln w="12700">
            <a:solidFill>
              <a:srgbClr val="F0A04B"/>
            </a:solidFill>
            <a:prstDash val="solid"/>
          </a:ln>
        </p:spPr>
      </p:sp>
      <p:sp>
        <p:nvSpPr>
          <p:cNvPr id="11" name="Text 9"/>
          <p:cNvSpPr/>
          <p:nvPr/>
        </p:nvSpPr>
        <p:spPr>
          <a:xfrm>
            <a:off x="3676650" y="339328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04B"/>
                </a:solidFill>
                <a:latin typeface="IBM Plex Sans" pitchFamily="34" charset="0"/>
                <a:ea typeface="IBM Plex Sans" pitchFamily="34" charset="-122"/>
                <a:cs typeface="IBM Plex Sans" pitchFamily="34" charset="-120"/>
              </a:rPr>
              <a:t>Test</a:t>
            </a:r>
            <a:endParaRPr lang="en-US" sz="1500" dirty="0"/>
          </a:p>
        </p:txBody>
      </p:sp>
      <p:sp>
        <p:nvSpPr>
          <p:cNvPr id="12" name="Text 10"/>
          <p:cNvSpPr/>
          <p:nvPr/>
        </p:nvSpPr>
        <p:spPr>
          <a:xfrm>
            <a:off x="3676650" y="3672681"/>
            <a:ext cx="2230311"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EDC"/>
                </a:solidFill>
                <a:latin typeface="IBM Plex Sans" pitchFamily="34" charset="0"/>
                <a:ea typeface="IBM Plex Sans" pitchFamily="34" charset="-122"/>
                <a:cs typeface="IBM Plex Sans" pitchFamily="34" charset="-120"/>
              </a:rPr>
              <a:t>CodeBuild runs unit tests, incl. a ₹10 lakh policy ceiling</a:t>
            </a:r>
            <a:endParaRPr lang="en-US" sz="1300" dirty="0"/>
          </a:p>
        </p:txBody>
      </p:sp>
      <p:sp>
        <p:nvSpPr>
          <p:cNvPr id="13" name="Shape 11"/>
          <p:cNvSpPr/>
          <p:nvPr/>
        </p:nvSpPr>
        <p:spPr>
          <a:xfrm>
            <a:off x="6165850" y="3234531"/>
            <a:ext cx="2533650" cy="1059160"/>
          </a:xfrm>
          <a:prstGeom prst="roundRect">
            <a:avLst>
              <a:gd name="adj" fmla="val 5396"/>
            </a:avLst>
          </a:prstGeom>
          <a:noFill/>
          <a:ln w="12700">
            <a:solidFill>
              <a:srgbClr val="F0A04B"/>
            </a:solidFill>
            <a:prstDash val="solid"/>
          </a:ln>
        </p:spPr>
      </p:sp>
      <p:sp>
        <p:nvSpPr>
          <p:cNvPr id="14" name="Text 12"/>
          <p:cNvSpPr/>
          <p:nvPr/>
        </p:nvSpPr>
        <p:spPr>
          <a:xfrm>
            <a:off x="6350000" y="339328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04B"/>
                </a:solidFill>
                <a:latin typeface="IBM Plex Sans" pitchFamily="34" charset="0"/>
                <a:ea typeface="IBM Plex Sans" pitchFamily="34" charset="-122"/>
                <a:cs typeface="IBM Plex Sans" pitchFamily="34" charset="-120"/>
              </a:rPr>
              <a:t>Approve</a:t>
            </a:r>
            <a:endParaRPr lang="en-US" sz="1500" dirty="0"/>
          </a:p>
        </p:txBody>
      </p:sp>
      <p:sp>
        <p:nvSpPr>
          <p:cNvPr id="15" name="Text 13"/>
          <p:cNvSpPr/>
          <p:nvPr/>
        </p:nvSpPr>
        <p:spPr>
          <a:xfrm>
            <a:off x="6350000" y="3672681"/>
            <a:ext cx="2230311"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EDC"/>
                </a:solidFill>
                <a:latin typeface="IBM Plex Sans" pitchFamily="34" charset="0"/>
                <a:ea typeface="IBM Plex Sans" pitchFamily="34" charset="-122"/>
                <a:cs typeface="IBM Plex Sans" pitchFamily="34" charset="-120"/>
              </a:rPr>
              <a:t>Maker-checker: nothing moves without sign-off</a:t>
            </a:r>
            <a:endParaRPr lang="en-US" sz="1300" dirty="0"/>
          </a:p>
        </p:txBody>
      </p:sp>
      <p:sp>
        <p:nvSpPr>
          <p:cNvPr id="16" name="Shape 14"/>
          <p:cNvSpPr/>
          <p:nvPr/>
        </p:nvSpPr>
        <p:spPr>
          <a:xfrm>
            <a:off x="8839200" y="3234531"/>
            <a:ext cx="2533650" cy="1059160"/>
          </a:xfrm>
          <a:prstGeom prst="roundRect">
            <a:avLst>
              <a:gd name="adj" fmla="val 5396"/>
            </a:avLst>
          </a:prstGeom>
          <a:noFill/>
          <a:ln w="12700">
            <a:solidFill>
              <a:srgbClr val="F0A04B"/>
            </a:solidFill>
            <a:prstDash val="solid"/>
          </a:ln>
        </p:spPr>
      </p:sp>
      <p:sp>
        <p:nvSpPr>
          <p:cNvPr id="17" name="Text 15"/>
          <p:cNvSpPr/>
          <p:nvPr/>
        </p:nvSpPr>
        <p:spPr>
          <a:xfrm>
            <a:off x="9023350" y="3393281"/>
            <a:ext cx="22303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0A04B"/>
                </a:solidFill>
                <a:latin typeface="IBM Plex Sans" pitchFamily="34" charset="0"/>
                <a:ea typeface="IBM Plex Sans" pitchFamily="34" charset="-122"/>
                <a:cs typeface="IBM Plex Sans" pitchFamily="34" charset="-120"/>
              </a:rPr>
              <a:t>Deploy</a:t>
            </a:r>
            <a:endParaRPr lang="en-US" sz="1500" dirty="0"/>
          </a:p>
        </p:txBody>
      </p:sp>
      <p:sp>
        <p:nvSpPr>
          <p:cNvPr id="18" name="Text 16"/>
          <p:cNvSpPr/>
          <p:nvPr/>
        </p:nvSpPr>
        <p:spPr>
          <a:xfrm>
            <a:off x="9023350" y="3672681"/>
            <a:ext cx="2230311"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EDC"/>
                </a:solidFill>
                <a:latin typeface="IBM Plex Sans" pitchFamily="34" charset="0"/>
                <a:ea typeface="IBM Plex Sans" pitchFamily="34" charset="-122"/>
                <a:cs typeface="IBM Plex Sans" pitchFamily="34" charset="-120"/>
              </a:rPr>
              <a:t>New Lambda version goes live</a:t>
            </a:r>
            <a:endParaRPr lang="en-US" sz="1300" dirty="0"/>
          </a:p>
        </p:txBody>
      </p:sp>
      <p:sp>
        <p:nvSpPr>
          <p:cNvPr id="19" name="Text 17"/>
          <p:cNvSpPr/>
          <p:nvPr/>
        </p:nvSpPr>
        <p:spPr>
          <a:xfrm>
            <a:off x="812800" y="46048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7F4"/>
                </a:solidFill>
                <a:latin typeface="IBM Plex Sans" pitchFamily="34" charset="0"/>
                <a:ea typeface="IBM Plex Sans" pitchFamily="34" charset="-122"/>
                <a:cs typeface="IBM Plex Sans" pitchFamily="34" charset="-120"/>
              </a:rPr>
              <a:t>Same file, uploaded again: </a:t>
            </a:r>
            <a:r>
              <a:rPr lang="en-US" sz="1600" b="1" dirty="0">
                <a:solidFill>
                  <a:srgbClr val="F7F7F4"/>
                </a:solidFill>
                <a:latin typeface="IBM Plex Sans" pitchFamily="34" charset="0"/>
                <a:ea typeface="IBM Plex Sans" pitchFamily="34" charset="-122"/>
                <a:cs typeface="IBM Plex Sans" pitchFamily="34" charset="-120"/>
              </a:rPr>
              <a:t>2 flagged before, 5 after.</a:t>
            </a:r>
            <a:r>
              <a:rPr lang="en-US" sz="1600" dirty="0">
                <a:solidFill>
                  <a:srgbClr val="F7F7F4"/>
                </a:solidFill>
                <a:latin typeface="IBM Plex Sans" pitchFamily="34" charset="0"/>
                <a:ea typeface="IBM Plex Sans" pitchFamily="34" charset="-122"/>
                <a:cs typeface="IBM Plex Sans" pitchFamily="34" charset="-120"/>
              </a:rPr>
              <a:t> Put ₹50 lakh instead and the tests block it.</a:t>
            </a:r>
            <a:endParaRPr lang="en-US" sz="16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9BB3"/>
                </a:solidFill>
                <a:latin typeface="IBM Plex Sans" pitchFamily="34" charset="0"/>
                <a:ea typeface="IBM Plex Sans" pitchFamily="34" charset="-122"/>
                <a:cs typeface="IBM Plex Sans" pitchFamily="34" charset="-120"/>
              </a:rPr>
              <a:t>AWS demo · Branch EOD processing</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9BB3"/>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44"/>
                </a:solidFill>
                <a:latin typeface="IBM Plex Sans" pitchFamily="34" charset="0"/>
                <a:ea typeface="IBM Plex Sans" pitchFamily="34" charset="-122"/>
                <a:cs typeface="IBM Plex Sans" pitchFamily="34" charset="-120"/>
              </a:rPr>
              <a:t>Who can see what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1792932"/>
        </p:xfrm>
        <a:graphic>
          <a:graphicData uri="http://schemas.openxmlformats.org/drawingml/2006/table">
            <a:tbl>
              <a:tblPr/>
              <a:tblGrid>
                <a:gridCol w="2955036"/>
                <a:gridCol w="2532888"/>
                <a:gridCol w="2532888"/>
                <a:gridCol w="2532888"/>
              </a:tblGrid>
              <a:tr h="386011">
                <a:tc>
                  <a:txBody>
                    <a:bodyPr/>
                    <a:lstStyle/>
                    <a:p>
                      <a:pP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Identity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c>
                  <a:txBody>
                    <a:bodyPr/>
                    <a:lstStyle/>
                    <a:p>
                      <a:pP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Raw EOD files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D2539"/>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c>
                  <a:txBody>
                    <a:bodyPr/>
                    <a:lstStyle/>
                    <a:p>
                      <a:pP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Processed reports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D2539"/>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c>
                  <a:txBody>
                    <a:bodyPr/>
                    <a:lstStyle/>
                    <a:p>
                      <a:pPr indent="0" marL="0">
                        <a:lnSpc>
                          <a:spcPts val="1960"/>
                        </a:lnSpc>
                        <a:buNone/>
                      </a:pPr>
                      <a:r>
                        <a:rPr lang="en-US" sz="1400" b="1" dirty="0">
                          <a:solidFill>
                            <a:srgbClr val="F7F7F4"/>
                          </a:solidFill>
                          <a:latin typeface="IBM Plex Sans" pitchFamily="34" charset="0"/>
                          <a:ea typeface="IBM Plex Sans" pitchFamily="34" charset="-122"/>
                          <a:cs typeface="IBM Plex Sans" pitchFamily="34" charset="-120"/>
                        </a:rPr>
                        <a:t>Delete anything?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D2539"/>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r>
              <a:tr h="386011">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Lambda processor role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Read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Write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Branch auditor (user)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No, AccessDenied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Read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r>
              <a:tr h="634901">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Pipeline deploy role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1F2A44"/>
                          </a:solidFill>
                          <a:latin typeface="IBM Plex Sans" pitchFamily="34" charset="0"/>
                          <a:ea typeface="IBM Plex Sans" pitchFamily="34" charset="-122"/>
                          <a:cs typeface="IBM Plex Sans" pitchFamily="34" charset="-120"/>
                        </a:rPr>
                        <a:t>No, can only update one function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
        <p:nvSpPr>
          <p:cNvPr id="4" name="Shape 1"/>
          <p:cNvSpPr/>
          <p:nvPr/>
        </p:nvSpPr>
        <p:spPr>
          <a:xfrm>
            <a:off x="812800" y="3695353"/>
            <a:ext cx="5207000" cy="1097260"/>
          </a:xfrm>
          <a:prstGeom prst="roundRect">
            <a:avLst>
              <a:gd name="adj" fmla="val 5787"/>
            </a:avLst>
          </a:prstGeom>
          <a:solidFill>
            <a:srgbClr val="EAEEF3"/>
          </a:solidFill>
          <a:ln/>
        </p:spPr>
      </p:sp>
      <p:sp>
        <p:nvSpPr>
          <p:cNvPr id="5" name="Text 2"/>
          <p:cNvSpPr/>
          <p:nvPr/>
        </p:nvSpPr>
        <p:spPr>
          <a:xfrm>
            <a:off x="1016000" y="3873153"/>
            <a:ext cx="49446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44"/>
                </a:solidFill>
                <a:latin typeface="IBM Plex Sans" pitchFamily="34" charset="0"/>
                <a:ea typeface="IBM Plex Sans" pitchFamily="34" charset="-122"/>
                <a:cs typeface="IBM Plex Sans" pitchFamily="34" charset="-120"/>
              </a:rPr>
              <a:t>Encrypted with the bank’s own key</a:t>
            </a:r>
            <a:endParaRPr lang="en-US" sz="1500" dirty="0"/>
          </a:p>
        </p:txBody>
      </p:sp>
      <p:sp>
        <p:nvSpPr>
          <p:cNvPr id="6" name="Text 3"/>
          <p:cNvSpPr/>
          <p:nvPr/>
        </p:nvSpPr>
        <p:spPr>
          <a:xfrm>
            <a:off x="1016000" y="4152553"/>
            <a:ext cx="494461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Both buckets use a KMS customer managed key with rotation on. The API key lives in Secrets Manager, not in code.</a:t>
            </a:r>
            <a:endParaRPr lang="en-US" sz="1300" dirty="0"/>
          </a:p>
        </p:txBody>
      </p:sp>
      <p:sp>
        <p:nvSpPr>
          <p:cNvPr id="7" name="Shape 4"/>
          <p:cNvSpPr/>
          <p:nvPr/>
        </p:nvSpPr>
        <p:spPr>
          <a:xfrm>
            <a:off x="6172200" y="3695353"/>
            <a:ext cx="5207000" cy="1097260"/>
          </a:xfrm>
          <a:prstGeom prst="roundRect">
            <a:avLst>
              <a:gd name="adj" fmla="val 5787"/>
            </a:avLst>
          </a:prstGeom>
          <a:solidFill>
            <a:srgbClr val="EAEEF3"/>
          </a:solidFill>
          <a:ln/>
        </p:spPr>
      </p:sp>
      <p:sp>
        <p:nvSpPr>
          <p:cNvPr id="8" name="Text 5"/>
          <p:cNvSpPr/>
          <p:nvPr/>
        </p:nvSpPr>
        <p:spPr>
          <a:xfrm>
            <a:off x="6375400" y="3873153"/>
            <a:ext cx="49446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44"/>
                </a:solidFill>
                <a:latin typeface="IBM Plex Sans" pitchFamily="34" charset="0"/>
                <a:ea typeface="IBM Plex Sans" pitchFamily="34" charset="-122"/>
                <a:cs typeface="IBM Plex Sans" pitchFamily="34" charset="-120"/>
              </a:rPr>
              <a:t>Every action is recorded</a:t>
            </a:r>
            <a:endParaRPr lang="en-US" sz="1500" dirty="0"/>
          </a:p>
        </p:txBody>
      </p:sp>
      <p:sp>
        <p:nvSpPr>
          <p:cNvPr id="9" name="Text 6"/>
          <p:cNvSpPr/>
          <p:nvPr/>
        </p:nvSpPr>
        <p:spPr>
          <a:xfrm>
            <a:off x="6375400" y="4152553"/>
            <a:ext cx="4944618"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CloudTrail shows who terminated the server, who approved the change and when. GuardDuty flags suspicious activity.</a:t>
            </a:r>
            <a:endParaRPr lang="en-US" sz="13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AWS demo · Branch EOD processing</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44"/>
                </a:solidFill>
                <a:latin typeface="IBM Plex Sans" pitchFamily="34" charset="0"/>
                <a:ea typeface="IBM Plex Sans" pitchFamily="34" charset="-122"/>
                <a:cs typeface="IBM Plex Sans" pitchFamily="34" charset="-120"/>
              </a:rPr>
              <a:t>Where today’s demo fits in the 5 days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46820"/>
          <a:ext cx="10553700" cy="2235994"/>
        </p:xfrm>
        <a:graphic>
          <a:graphicData uri="http://schemas.openxmlformats.org/drawingml/2006/table">
            <a:tbl>
              <a:tblPr/>
              <a:tblGrid>
                <a:gridCol w="1266444"/>
                <a:gridCol w="4221480"/>
                <a:gridCol w="5065776"/>
              </a:tblGrid>
              <a:tr h="372666">
                <a:tc>
                  <a:txBody>
                    <a:bodyPr/>
                    <a:lstStyle/>
                    <a:p>
                      <a:pPr indent="0" marL="0">
                        <a:lnSpc>
                          <a:spcPts val="1890"/>
                        </a:lnSpc>
                        <a:buNone/>
                      </a:pPr>
                      <a:r>
                        <a:rPr lang="en-US" sz="1350" b="1" dirty="0">
                          <a:solidFill>
                            <a:srgbClr val="F7F7F4"/>
                          </a:solidFill>
                          <a:latin typeface="IBM Plex Sans" pitchFamily="34" charset="0"/>
                          <a:ea typeface="IBM Plex Sans" pitchFamily="34" charset="-122"/>
                          <a:cs typeface="IBM Plex Sans" pitchFamily="34" charset="-120"/>
                        </a:rPr>
                        <a:t>Day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c>
                  <a:txBody>
                    <a:bodyPr/>
                    <a:lstStyle/>
                    <a:p>
                      <a:pPr indent="0" marL="0">
                        <a:lnSpc>
                          <a:spcPts val="1890"/>
                        </a:lnSpc>
                        <a:buNone/>
                      </a:pPr>
                      <a:r>
                        <a:rPr lang="en-US" sz="1350" b="1" dirty="0">
                          <a:solidFill>
                            <a:srgbClr val="F7F7F4"/>
                          </a:solidFill>
                          <a:latin typeface="IBM Plex Sans" pitchFamily="34" charset="0"/>
                          <a:ea typeface="IBM Plex Sans" pitchFamily="34" charset="-122"/>
                          <a:cs typeface="IBM Plex Sans" pitchFamily="34" charset="-120"/>
                        </a:rPr>
                        <a:t>Topics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D2539"/>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c>
                  <a:txBody>
                    <a:bodyPr/>
                    <a:lstStyle/>
                    <a:p>
                      <a:pPr indent="0" marL="0">
                        <a:lnSpc>
                          <a:spcPts val="1890"/>
                        </a:lnSpc>
                        <a:buNone/>
                      </a:pPr>
                      <a:r>
                        <a:rPr lang="en-US" sz="1350" b="1" dirty="0">
                          <a:solidFill>
                            <a:srgbClr val="F7F7F4"/>
                          </a:solidFill>
                          <a:latin typeface="IBM Plex Sans" pitchFamily="34" charset="0"/>
                          <a:ea typeface="IBM Plex Sans" pitchFamily="34" charset="-122"/>
                          <a:cs typeface="IBM Plex Sans" pitchFamily="34" charset="-120"/>
                        </a:rPr>
                        <a:t>What you saw today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1D2539"/>
                      </a:solidFill>
                      <a:prstDash val="solid"/>
                      <a:round/>
                      <a:headEnd type="none" w="med" len="med"/>
                      <a:tailEnd type="none" w="med" len="med"/>
                    </a:lnL>
                    <a:lnR w="12700" cap="flat" cmpd="sng" algn="ctr">
                      <a:solidFill>
                        <a:srgbClr val="1D2539"/>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D2539"/>
                      </a:solidFill>
                      <a:prstDash val="solid"/>
                      <a:round/>
                      <a:headEnd type="none" w="med" len="med"/>
                      <a:tailEnd type="none" w="med" len="med"/>
                    </a:lnB>
                    <a:solidFill>
                      <a:srgbClr val="1F2A44"/>
                    </a:solidFill>
                  </a:tcPr>
                </a:tc>
              </a:tr>
              <a:tr h="372666">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Day 1</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IAM, EC2, ALB, Auto Scaling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Auditor access, portal that healed itself</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D2539"/>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72666">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Day 2</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S3, RDS, DR, custom VPC</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Encrypted buckets, 2-AZ network</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r>
              <a:tr h="372666">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Day 3</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CloudFormation, Terraform</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Portal stack, live terraform apply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72666">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Day 4</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CI/CD, ECS Fargate, Lambda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Rule-change pipeline, EOD processor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BBEC2"/>
                      </a:solidFill>
                      <a:prstDash val="solid"/>
                      <a:round/>
                      <a:headEnd type="none" w="med" len="med"/>
                      <a:tailEnd type="none" w="med" len="med"/>
                    </a:lnL>
                    <a:lnR w="12700" cap="flat" cmpd="sng" algn="ctr">
                      <a:solidFill>
                        <a:srgbClr val="BBBEC2"/>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BBEC2"/>
                      </a:solidFill>
                      <a:prstDash val="solid"/>
                      <a:round/>
                      <a:headEnd type="none" w="med" len="med"/>
                      <a:tailEnd type="none" w="med" len="med"/>
                    </a:lnB>
                    <a:solidFill>
                      <a:srgbClr val="EAEEF3"/>
                    </a:solidFill>
                  </a:tcPr>
                </a:tc>
              </a:tr>
              <a:tr h="372666">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Day 5</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KMS, Secrets Manager, CloudTrail, GuardDuty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90"/>
                        </a:lnSpc>
                        <a:buNone/>
                      </a:pPr>
                      <a:r>
                        <a:rPr lang="en-US" sz="1350" dirty="0">
                          <a:solidFill>
                            <a:srgbClr val="1F2A44"/>
                          </a:solidFill>
                          <a:latin typeface="IBM Plex Sans" pitchFamily="34" charset="0"/>
                          <a:ea typeface="IBM Plex Sans" pitchFamily="34" charset="-122"/>
                          <a:cs typeface="IBM Plex Sans" pitchFamily="34" charset="-120"/>
                        </a:rPr>
                        <a:t>Encryption, API key, audit trail, findings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BBEC2"/>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
        <p:nvSpPr>
          <p:cNvPr id="4" name="Text 1"/>
          <p:cNvSpPr/>
          <p:nvPr/>
        </p:nvSpPr>
        <p:spPr>
          <a:xfrm>
            <a:off x="812800" y="4036814"/>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About 80–85% of each day is hands-on lab. Your team builds every piece of this themselves.</a:t>
            </a:r>
            <a:endParaRPr lang="en-US" sz="1400" dirty="0"/>
          </a:p>
        </p:txBody>
      </p:sp>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AWS demo · Branch EOD processing</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EEF3"/>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F2A44"/>
          </a:solidFill>
          <a:ln/>
        </p:spPr>
      </p:sp>
      <p:sp>
        <p:nvSpPr>
          <p:cNvPr id="3" name="Text 1"/>
          <p:cNvSpPr/>
          <p:nvPr>
            <p:ph type="title"/>
          </p:nvPr>
        </p:nvSpPr>
        <p:spPr>
          <a:xfrm>
            <a:off x="812800" y="2395289"/>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F2A44"/>
                </a:solidFill>
                <a:latin typeface="IBM Plex Sans" pitchFamily="34" charset="0"/>
                <a:ea typeface="IBM Plex Sans" pitchFamily="34" charset="-122"/>
                <a:cs typeface="IBM Plex Sans" pitchFamily="34" charset="-120"/>
              </a:rPr>
              <a:t>Questions?</a:t>
            </a:r>
            <a:endParaRPr lang="en-US" sz="4800" dirty="0"/>
          </a:p>
        </p:txBody>
      </p:sp>
      <p:sp>
        <p:nvSpPr>
          <p:cNvPr id="4" name="Shape 2"/>
          <p:cNvSpPr/>
          <p:nvPr/>
        </p:nvSpPr>
        <p:spPr>
          <a:xfrm>
            <a:off x="812800" y="3326160"/>
            <a:ext cx="6985000" cy="0"/>
          </a:xfrm>
          <a:prstGeom prst="line">
            <a:avLst/>
          </a:prstGeom>
          <a:noFill/>
          <a:ln w="12700">
            <a:solidFill>
              <a:srgbClr val="C9CFD8"/>
            </a:solidFill>
            <a:prstDash val="solid"/>
          </a:ln>
        </p:spPr>
      </p:sp>
      <p:sp>
        <p:nvSpPr>
          <p:cNvPr id="5" name="Text 3"/>
          <p:cNvSpPr/>
          <p:nvPr/>
        </p:nvSpPr>
        <p:spPr>
          <a:xfrm>
            <a:off x="812800" y="3535710"/>
            <a:ext cx="719455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A44"/>
                </a:solidFill>
                <a:latin typeface="IBM Plex Sans" pitchFamily="34" charset="0"/>
                <a:ea typeface="IBM Plex Sans" pitchFamily="34" charset="-122"/>
                <a:cs typeface="IBM Plex Sans" pitchFamily="34" charset="-120"/>
              </a:rPr>
              <a:t>Ravindra Nallan</a:t>
            </a:r>
            <a:endParaRPr lang="en-US" sz="1700" dirty="0"/>
          </a:p>
        </p:txBody>
      </p:sp>
      <p:sp>
        <p:nvSpPr>
          <p:cNvPr id="6" name="Text 4"/>
          <p:cNvSpPr/>
          <p:nvPr/>
        </p:nvSpPr>
        <p:spPr>
          <a:xfrm>
            <a:off x="812800" y="3901430"/>
            <a:ext cx="719455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[email] · [phone] · [LinkedIn]</a:t>
            </a:r>
            <a:endParaRPr lang="en-US" sz="1400" dirty="0"/>
          </a:p>
        </p:txBody>
      </p:sp>
      <p:sp>
        <p:nvSpPr>
          <p:cNvPr id="7" name="Text 5"/>
          <p:cNvSpPr/>
          <p:nvPr/>
        </p:nvSpPr>
        <p:spPr>
          <a:xfrm>
            <a:off x="812800" y="4213820"/>
            <a:ext cx="719455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Setup notes and code from today’s demo can be shared with the team.</a:t>
            </a:r>
            <a:endParaRPr lang="en-US" sz="1400" dirty="0"/>
          </a:p>
        </p:txBody>
      </p:sp>
    </p:spTree>
  </p:cSld>
  <p:clrMapOvr>
    <a:masterClrMapping/>
  </p:clrMapOvr>
</p:sld>
</file>

<file path=ppt/theme/theme1.xml><?xml version="1.0" encoding="utf-8"?>
<a:theme xmlns:a="http://schemas.openxmlformats.org/drawingml/2006/main" name="AWS Demo - Branch EOD Processing">
  <a:themeElements>
    <a:clrScheme name="AWS Demo - Branch EOD Processing">
      <a:dk1>
        <a:srgbClr val="1F2A44"/>
      </a:dk1>
      <a:lt1>
        <a:srgbClr val="F7F7F4"/>
      </a:lt1>
      <a:dk2>
        <a:srgbClr val="555D70"/>
      </a:dk2>
      <a:lt2>
        <a:srgbClr val="E1E3E2"/>
      </a:lt2>
      <a:accent1>
        <a:srgbClr val="A8520D"/>
      </a:accent1>
      <a:accent2>
        <a:srgbClr val="F0A04B"/>
      </a:accent2>
      <a:accent3>
        <a:srgbClr val="6B7280"/>
      </a:accent3>
      <a:accent4>
        <a:srgbClr val="4A5568"/>
      </a:accent4>
      <a:accent5>
        <a:srgbClr val="C5CEDC"/>
      </a:accent5>
      <a:accent6>
        <a:srgbClr val="8F9BB3"/>
      </a:accent6>
      <a:hlink>
        <a:srgbClr val="0563C1"/>
      </a:hlink>
      <a:folHlink>
        <a:srgbClr val="954F72"/>
      </a:folHlink>
    </a:clrScheme>
    <a:fontScheme name="AWS Demo - Branch EOD Process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Demo - Branch EOD Processing</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2026-10-29T10:07:26Z</dcterms:created>
  <dcterms:modified xsi:type="dcterms:W3CDTF">2026-10-29T10:07:26Z</dcterms:modified>
</cp:coreProperties>
</file>